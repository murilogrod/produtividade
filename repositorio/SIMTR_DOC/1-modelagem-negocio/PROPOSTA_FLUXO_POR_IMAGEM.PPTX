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sldIdLst>
    <p:sldId id="401" r:id="rId2"/>
    <p:sldId id="411" r:id="rId3"/>
    <p:sldId id="446" r:id="rId4"/>
    <p:sldId id="448" r:id="rId5"/>
    <p:sldId id="452" r:id="rId6"/>
    <p:sldId id="453" r:id="rId7"/>
    <p:sldId id="454" r:id="rId8"/>
    <p:sldId id="412" r:id="rId9"/>
    <p:sldId id="456" r:id="rId10"/>
    <p:sldId id="455" r:id="rId11"/>
    <p:sldId id="447" r:id="rId12"/>
    <p:sldId id="281" r:id="rId13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0000FF"/>
    <a:srgbClr val="007F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88" autoAdjust="0"/>
    <p:restoredTop sz="95501" autoAdjust="0"/>
  </p:normalViewPr>
  <p:slideViewPr>
    <p:cSldViewPr>
      <p:cViewPr varScale="1">
        <p:scale>
          <a:sx n="92" d="100"/>
          <a:sy n="92" d="100"/>
        </p:scale>
        <p:origin x="1584" y="9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-3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5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</a:lstStyle>
          <a:p>
            <a:pPr>
              <a:defRPr/>
            </a:pPr>
            <a:fld id="{7E884F47-C0AD-47E1-A90C-205D3A19D915}" type="slidenum">
              <a:rPr lang="pt-BR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31779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fld id="{4851D92F-4B39-423D-97FC-19313358004E}" type="slidenum">
              <a:rPr lang="pt-BR" altLang="pt-BR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pt-BR" alt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1588" cy="15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spcBef>
                <a:spcPct val="0"/>
              </a:spcBef>
            </a:pPr>
            <a:endParaRPr lang="pt-BR" altLang="pt-BR" sz="200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149" name="Text Box 3"/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fld id="{AE9DF91B-7663-49BB-80B4-E639AB6F9352}" type="slidenum">
              <a:rPr lang="pt-BR" altLang="pt-BR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t>1</a:t>
            </a:fld>
            <a:endParaRPr lang="pt-BR" altLang="pt-BR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769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fld id="{B49A07B1-F0B8-4122-B5B6-E8D8B5758104}" type="slidenum">
              <a:rPr lang="pt-BR" altLang="pt-BR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12</a:t>
            </a:fld>
            <a:endParaRPr lang="pt-BR" altLang="pt-BR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1588" cy="158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spcBef>
                <a:spcPct val="0"/>
              </a:spcBef>
            </a:pPr>
            <a:endParaRPr lang="pt-BR" altLang="pt-BR" sz="200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725" name="Text Box 3"/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fld id="{A1C88BD6-551C-42BB-87F5-30A7C9CFC964}" type="slidenum">
              <a:rPr lang="pt-BR" altLang="pt-BR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t>12</a:t>
            </a:fld>
            <a:endParaRPr lang="pt-BR" altLang="pt-BR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39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3848607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284172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338888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0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240439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39552" y="44624"/>
            <a:ext cx="7770813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dirty="0"/>
              <a:t>Clique para </a:t>
            </a:r>
            <a:r>
              <a:rPr lang="en-GB" altLang="pt-BR" dirty="0" err="1"/>
              <a:t>editar</a:t>
            </a:r>
            <a:r>
              <a:rPr lang="en-GB" altLang="pt-BR" dirty="0"/>
              <a:t> o </a:t>
            </a:r>
            <a:r>
              <a:rPr lang="en-GB" altLang="pt-BR" dirty="0" err="1"/>
              <a:t>formato</a:t>
            </a:r>
            <a:r>
              <a:rPr lang="en-GB" altLang="pt-BR" dirty="0"/>
              <a:t> do </a:t>
            </a:r>
            <a:r>
              <a:rPr lang="en-GB" altLang="pt-BR" dirty="0" err="1"/>
              <a:t>texto</a:t>
            </a:r>
            <a:r>
              <a:rPr lang="en-GB" altLang="pt-BR" dirty="0"/>
              <a:t> do </a:t>
            </a:r>
            <a:r>
              <a:rPr lang="en-GB" altLang="pt-BR" dirty="0" err="1"/>
              <a:t>título</a:t>
            </a:r>
            <a:endParaRPr lang="en-GB" altLang="pt-BR" dirty="0"/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 dirty="0"/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36713"/>
            <a:ext cx="8228013" cy="6007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dirty="0"/>
              <a:t>Clique para </a:t>
            </a:r>
            <a:r>
              <a:rPr lang="en-GB" altLang="pt-BR" dirty="0" err="1"/>
              <a:t>editar</a:t>
            </a:r>
            <a:r>
              <a:rPr lang="en-GB" altLang="pt-BR" dirty="0"/>
              <a:t> o </a:t>
            </a:r>
            <a:r>
              <a:rPr lang="en-GB" altLang="pt-BR" dirty="0" err="1"/>
              <a:t>formato</a:t>
            </a:r>
            <a:r>
              <a:rPr lang="en-GB" altLang="pt-BR" dirty="0"/>
              <a:t> do </a:t>
            </a:r>
            <a:r>
              <a:rPr lang="en-GB" altLang="pt-BR" dirty="0" err="1"/>
              <a:t>texto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1"/>
            <a:r>
              <a:rPr lang="en-GB" altLang="pt-BR" dirty="0"/>
              <a:t>2.º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2"/>
            <a:r>
              <a:rPr lang="en-GB" altLang="pt-BR" dirty="0"/>
              <a:t>3.º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3"/>
            <a:r>
              <a:rPr lang="en-GB" altLang="pt-BR" dirty="0"/>
              <a:t>4.º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4"/>
            <a:r>
              <a:rPr lang="en-GB" altLang="pt-BR" dirty="0"/>
              <a:t>5.º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4"/>
            <a:r>
              <a:rPr lang="en-GB" altLang="pt-BR" dirty="0"/>
              <a:t>6.º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4"/>
            <a:r>
              <a:rPr lang="en-GB" altLang="pt-BR" dirty="0"/>
              <a:t>7.º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4"/>
            <a:r>
              <a:rPr lang="en-GB" altLang="pt-BR" dirty="0"/>
              <a:t>8.º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  <a:p>
            <a:pPr lvl="4"/>
            <a:r>
              <a:rPr lang="en-GB" altLang="pt-BR" dirty="0"/>
              <a:t>9.º </a:t>
            </a:r>
            <a:r>
              <a:rPr lang="en-GB" altLang="pt-BR" dirty="0" err="1"/>
              <a:t>Nível</a:t>
            </a:r>
            <a:r>
              <a:rPr lang="en-GB" altLang="pt-BR" dirty="0"/>
              <a:t> da </a:t>
            </a:r>
            <a:r>
              <a:rPr lang="en-GB" altLang="pt-BR" dirty="0" err="1"/>
              <a:t>estrutura</a:t>
            </a:r>
            <a:r>
              <a:rPr lang="en-GB" altLang="pt-BR" dirty="0"/>
              <a:t> de </a:t>
            </a:r>
            <a:r>
              <a:rPr lang="en-GB" altLang="pt-BR" dirty="0" err="1"/>
              <a:t>tópicos</a:t>
            </a:r>
            <a:endParaRPr lang="en-GB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1" r:id="rId2"/>
    <p:sldLayoutId id="2147483692" r:id="rId3"/>
    <p:sldLayoutId id="2147483697" r:id="rId4"/>
  </p:sldLayoutIdLst>
  <p:transition spd="slow">
    <p:randomBar dir="vert"/>
  </p:transition>
  <p:hf sldNum="0" hdr="0" ftr="0"/>
  <p:txStyles>
    <p:titleStyle>
      <a:lvl1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200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2pPr>
      <a:lvl3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3pPr>
      <a:lvl4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4pPr>
      <a:lvl5pPr algn="l" defTabSz="449263" rtl="0" eaLnBrk="0" fontAlgn="base" hangingPunct="0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5pPr>
      <a:lvl6pPr marL="2514600" indent="-228600" algn="l" defTabSz="449263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6pPr>
      <a:lvl7pPr marL="2971800" indent="-228600" algn="l" defTabSz="449263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7pPr>
      <a:lvl8pPr marL="3429000" indent="-228600" algn="l" defTabSz="449263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8pPr>
      <a:lvl9pPr marL="3886200" indent="-228600" algn="l" defTabSz="449263" rtl="0" fontAlgn="base">
        <a:lnSpc>
          <a:spcPct val="102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Calibri" panose="020F0502020204030204" pitchFamily="34" charset="0"/>
          <a:ea typeface="Microsoft YaHei" panose="020B0503020204020204" pitchFamily="34" charset="-122"/>
        </a:defRPr>
      </a:lvl9pPr>
    </p:titleStyle>
    <p:bodyStyle>
      <a:lvl1pPr marL="342900" indent="-342900" algn="l" defTabSz="449263" rtl="0" eaLnBrk="0" fontAlgn="base" hangingPunct="0">
        <a:lnSpc>
          <a:spcPct val="102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102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02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02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02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259632" y="2708920"/>
            <a:ext cx="7340352" cy="1109985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altLang="pt-BR" sz="3200" b="1" dirty="0" smtClean="0">
                <a:solidFill>
                  <a:srgbClr val="1F497D"/>
                </a:solidFill>
              </a:rPr>
              <a:t>FLUXO POR IMAGEM</a:t>
            </a:r>
            <a:br>
              <a:rPr lang="en-US" altLang="pt-BR" sz="3200" b="1" dirty="0" smtClean="0">
                <a:solidFill>
                  <a:srgbClr val="1F497D"/>
                </a:solidFill>
              </a:rPr>
            </a:br>
            <a:r>
              <a:rPr lang="en-US" altLang="pt-BR" sz="2800" b="1" dirty="0" smtClean="0">
                <a:solidFill>
                  <a:srgbClr val="FF0000"/>
                </a:solidFill>
              </a:rPr>
              <a:t>Proposta de novo </a:t>
            </a:r>
            <a:r>
              <a:rPr lang="en-US" altLang="pt-BR" sz="2800" b="1" i="1" dirty="0" smtClean="0">
                <a:solidFill>
                  <a:srgbClr val="FF0000"/>
                </a:solidFill>
              </a:rPr>
              <a:t>workflow</a:t>
            </a:r>
            <a:endParaRPr lang="en-US" altLang="pt-BR" sz="2800" b="1" i="1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669668" y="4640039"/>
            <a:ext cx="2846548" cy="665386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altLang="pt-BR" sz="2000" b="1" dirty="0" smtClean="0">
                <a:solidFill>
                  <a:srgbClr val="1F497D"/>
                </a:solidFill>
              </a:rPr>
              <a:t>SUBAN GEBAN</a:t>
            </a:r>
            <a:br>
              <a:rPr lang="en-US" altLang="pt-BR" sz="2000" b="1" dirty="0" smtClean="0">
                <a:solidFill>
                  <a:srgbClr val="1F497D"/>
                </a:solidFill>
              </a:rPr>
            </a:br>
            <a:r>
              <a:rPr lang="en-US" altLang="pt-BR" sz="2000" b="1" dirty="0" smtClean="0">
                <a:solidFill>
                  <a:srgbClr val="1F497D"/>
                </a:solidFill>
              </a:rPr>
              <a:t>MAIO/2017</a:t>
            </a:r>
            <a:endParaRPr lang="en-US" altLang="pt-BR" sz="2000" b="1" dirty="0">
              <a:solidFill>
                <a:srgbClr val="1F497D"/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919537"/>
            <a:ext cx="16478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4415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881" y="1"/>
            <a:ext cx="1712119" cy="148478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OBJETIVO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971600" y="1628800"/>
            <a:ext cx="66247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Desenvolver um </a:t>
            </a:r>
            <a:r>
              <a:rPr lang="pt-BR" sz="2000" b="1" i="1" dirty="0" smtClean="0">
                <a:solidFill>
                  <a:schemeClr val="accent2">
                    <a:lumMod val="75000"/>
                  </a:schemeClr>
                </a:solidFill>
              </a:rPr>
              <a:t>workflow</a:t>
            </a:r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 para atender o fluxo por imagem dos dossiês comerciais  PF e PJ, englobando nova infraestrutura, interface gráfica intuitiva, novas tecnologias e inteligência ao processo com foco no cliente.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971600" y="3380520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O desenvolvimento será 100% equipe GEBAN.</a:t>
            </a:r>
          </a:p>
        </p:txBody>
      </p:sp>
    </p:spTree>
    <p:extLst>
      <p:ext uri="{BB962C8B-B14F-4D97-AF65-F5344CB8AC3E}">
        <p14:creationId xmlns:p14="http://schemas.microsoft.com/office/powerpoint/2010/main" val="38643307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PROPOSTA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116632"/>
            <a:ext cx="1518555" cy="151855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95536" y="1268760"/>
            <a:ext cx="765688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 smtClean="0">
                <a:solidFill>
                  <a:srgbClr val="FFC000"/>
                </a:solidFill>
              </a:rPr>
              <a:t>EQUIPE GEBAN 2.5</a:t>
            </a:r>
          </a:p>
          <a:p>
            <a:pPr algn="just"/>
            <a:r>
              <a:rPr lang="pt-BR" b="1" dirty="0" smtClean="0">
                <a:solidFill>
                  <a:srgbClr val="FFC000"/>
                </a:solidFill>
              </a:rPr>
              <a:t>	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2">
                    <a:lumMod val="75000"/>
                  </a:schemeClr>
                </a:solidFill>
              </a:rPr>
              <a:t>Foco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integral do time na entrega do MVP proposto em 30/06.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2">
                    <a:lumMod val="75000"/>
                  </a:schemeClr>
                </a:solidFill>
              </a:rPr>
              <a:t>Destacamento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dos empregados (cinco) para desenvolvimento integral da solução até 30/06/2017</a:t>
            </a:r>
            <a:r>
              <a:rPr lang="pt-BR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accent2">
                    <a:lumMod val="75000"/>
                  </a:schemeClr>
                </a:solidFill>
              </a:rPr>
              <a:t>O CORE e atendimento da GEBAN para as demais demandas será realizado externamente (restante da equipe).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Gestão 100% Ágil – SCRUM.</a:t>
            </a:r>
          </a:p>
          <a:p>
            <a:pPr algn="just"/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pt-BR" sz="1600" dirty="0">
                <a:solidFill>
                  <a:schemeClr val="accent2">
                    <a:lumMod val="75000"/>
                  </a:schemeClr>
                </a:solidFill>
              </a:rPr>
              <a:t>		</a:t>
            </a:r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algn="just"/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2" name="Retângulo 1"/>
          <p:cNvSpPr/>
          <p:nvPr/>
        </p:nvSpPr>
        <p:spPr>
          <a:xfrm>
            <a:off x="379271" y="3767376"/>
            <a:ext cx="2681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pt-BR" b="1" dirty="0" smtClean="0">
                <a:solidFill>
                  <a:srgbClr val="FFC000"/>
                </a:solidFill>
              </a:rPr>
              <a:t>PRODUTO ENTREGUE</a:t>
            </a:r>
            <a:endParaRPr lang="pt-BR" b="1" dirty="0">
              <a:solidFill>
                <a:srgbClr val="FFC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42462" y="3964083"/>
            <a:ext cx="807797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pt-BR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Nova ferramenta para controle e realização da conformidade dos dossiês comerciais (</a:t>
            </a:r>
            <a:r>
              <a:rPr lang="pt-BR" sz="1600" i="1" dirty="0" smtClean="0">
                <a:solidFill>
                  <a:schemeClr val="accent2">
                    <a:lumMod val="75000"/>
                  </a:schemeClr>
                </a:solidFill>
              </a:rPr>
              <a:t>front</a:t>
            </a:r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 e </a:t>
            </a:r>
            <a:r>
              <a:rPr lang="pt-BR" sz="1600" i="1" dirty="0" err="1" smtClean="0">
                <a:solidFill>
                  <a:schemeClr val="accent2">
                    <a:lumMod val="75000"/>
                  </a:schemeClr>
                </a:solidFill>
              </a:rPr>
              <a:t>backend</a:t>
            </a:r>
            <a:r>
              <a:rPr lang="pt-BR" sz="1600" i="1" dirty="0" smtClean="0">
                <a:solidFill>
                  <a:schemeClr val="accent2">
                    <a:lumMod val="75000"/>
                  </a:schemeClr>
                </a:solidFill>
              </a:rPr>
              <a:t>).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Dossiê do cliente reutilizando todos os dados e documentos para contratação de novos produtos. </a:t>
            </a:r>
          </a:p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pt-BR" sz="1600" b="1" dirty="0" smtClean="0">
                <a:solidFill>
                  <a:schemeClr val="accent2">
                    <a:lumMod val="75000"/>
                  </a:schemeClr>
                </a:solidFill>
              </a:rPr>
              <a:t>Arquitetura estabelecida: </a:t>
            </a:r>
          </a:p>
          <a:p>
            <a:pPr algn="just"/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	Permitirá a evolução para outros produtos tratados no </a:t>
            </a:r>
            <a:r>
              <a:rPr lang="pt-BR" sz="1600" dirty="0" err="1" smtClean="0">
                <a:solidFill>
                  <a:schemeClr val="accent2">
                    <a:lumMod val="75000"/>
                  </a:schemeClr>
                </a:solidFill>
              </a:rPr>
              <a:t>FilaUnica</a:t>
            </a:r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algn="just"/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	Permitirá a disponibilização de dados e/ou imagens (barramento).</a:t>
            </a:r>
          </a:p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endParaRPr lang="pt-B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5286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PROPOSTA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116632"/>
            <a:ext cx="1518555" cy="151855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95536" y="985679"/>
            <a:ext cx="7656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 smtClean="0">
                <a:solidFill>
                  <a:srgbClr val="FFC000"/>
                </a:solidFill>
              </a:rPr>
              <a:t>ENTREGA 1 – MVP – PRAZO: 30/06/2017</a:t>
            </a:r>
          </a:p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			 </a:t>
            </a:r>
          </a:p>
          <a:p>
            <a:pPr algn="just"/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3" name="Retângulo 2"/>
          <p:cNvSpPr/>
          <p:nvPr/>
        </p:nvSpPr>
        <p:spPr>
          <a:xfrm>
            <a:off x="442462" y="3964083"/>
            <a:ext cx="80779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endParaRPr lang="pt-B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79512" y="1573385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Infraestrutura/Aplicativo</a:t>
            </a:r>
            <a:endParaRPr lang="pt-BR" b="1" dirty="0"/>
          </a:p>
        </p:txBody>
      </p:sp>
      <p:sp>
        <p:nvSpPr>
          <p:cNvPr id="8" name="CaixaDeTexto 7"/>
          <p:cNvSpPr txBox="1"/>
          <p:nvPr/>
        </p:nvSpPr>
        <p:spPr>
          <a:xfrm>
            <a:off x="717600" y="2494747"/>
            <a:ext cx="1358149" cy="9233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Novo Banco de Dados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2639802" y="2584068"/>
            <a:ext cx="1584176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Webservice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4788031" y="1999579"/>
            <a:ext cx="1584176" cy="147732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Novo </a:t>
            </a:r>
            <a:r>
              <a:rPr lang="pt-BR" b="1" i="1" dirty="0" err="1" smtClean="0">
                <a:solidFill>
                  <a:schemeClr val="bg1"/>
                </a:solidFill>
              </a:rPr>
              <a:t>Frontend</a:t>
            </a:r>
            <a:r>
              <a:rPr lang="pt-BR" b="1" i="1" dirty="0" smtClean="0">
                <a:solidFill>
                  <a:schemeClr val="bg1"/>
                </a:solidFill>
              </a:rPr>
              <a:t> para tratamento documentos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6932184" y="2272766"/>
            <a:ext cx="1584176" cy="9233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Interface SIGDA via macro*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179512" y="3832468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Funcionalidades</a:t>
            </a:r>
            <a:endParaRPr lang="pt-BR" b="1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699585" y="4597042"/>
            <a:ext cx="2185803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Reaproveitamento dos documentos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3292859" y="4616721"/>
            <a:ext cx="2449036" cy="9233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Aprovação/Rejeição por documento e/ou lote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149367" y="4616721"/>
            <a:ext cx="1656948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Upload de documentos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79512" y="5746973"/>
            <a:ext cx="6978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i="1" dirty="0" smtClean="0"/>
              <a:t>* </a:t>
            </a:r>
            <a:r>
              <a:rPr lang="pt-BR" sz="1400" i="1" dirty="0" smtClean="0"/>
              <a:t>Busca de documentos existentes para compor o dossiê do cliente em único sistema.</a:t>
            </a:r>
            <a:endParaRPr lang="pt-BR" sz="1400" i="1" dirty="0"/>
          </a:p>
        </p:txBody>
      </p:sp>
    </p:spTree>
    <p:extLst>
      <p:ext uri="{BB962C8B-B14F-4D97-AF65-F5344CB8AC3E}">
        <p14:creationId xmlns:p14="http://schemas.microsoft.com/office/powerpoint/2010/main" val="1977620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PROPOSTA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116632"/>
            <a:ext cx="1518555" cy="151855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95536" y="985679"/>
            <a:ext cx="7656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solidFill>
                  <a:srgbClr val="FFC000"/>
                </a:solidFill>
              </a:rPr>
              <a:t>ENTREGA 2 – EVOLUÇÃO/CONSOLIDAÇÃO MVP </a:t>
            </a:r>
          </a:p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			 </a:t>
            </a:r>
          </a:p>
          <a:p>
            <a:pPr algn="just"/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3" name="Retângulo 2"/>
          <p:cNvSpPr/>
          <p:nvPr/>
        </p:nvSpPr>
        <p:spPr>
          <a:xfrm>
            <a:off x="442462" y="3964083"/>
            <a:ext cx="80779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endParaRPr lang="pt-B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79512" y="1573385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Infraestrutura/Aplicativo</a:t>
            </a:r>
            <a:endParaRPr lang="pt-BR" b="1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179512" y="3832468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Funcionalidades</a:t>
            </a:r>
            <a:endParaRPr lang="pt-BR" b="1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635045" y="2214180"/>
            <a:ext cx="1550144" cy="12003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OCR na captura e upload de documentos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2973585" y="2237875"/>
            <a:ext cx="2346269" cy="12003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Carga de dados e busca documentos dos clientes a partir do SIGDA e SICTD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6084168" y="2237875"/>
            <a:ext cx="2612631" cy="12003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Novo Fluxo Pgto. Prêmio de Loterias – Validar novo produto completamente 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442462" y="4613667"/>
            <a:ext cx="4202736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Validação prévia dos documentos digitalizados/carregados 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4847250" y="4613668"/>
            <a:ext cx="3205170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Disponibilidade da primeira versão do dossiê do cliente</a:t>
            </a:r>
            <a:endParaRPr lang="pt-BR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6412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PROPOSTA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116632"/>
            <a:ext cx="1518555" cy="151855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95536" y="985679"/>
            <a:ext cx="76568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FFC000"/>
                </a:solidFill>
              </a:rPr>
              <a:t>ENTREGA 3 – ESPELHAMENTO E SUBSTITUIÇÃO DO SIGDA*</a:t>
            </a:r>
          </a:p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			 </a:t>
            </a:r>
          </a:p>
          <a:p>
            <a:pPr algn="just"/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3" name="Retângulo 2"/>
          <p:cNvSpPr/>
          <p:nvPr/>
        </p:nvSpPr>
        <p:spPr>
          <a:xfrm>
            <a:off x="442462" y="3964083"/>
            <a:ext cx="80779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endParaRPr lang="pt-B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79512" y="1573385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Infraestrutura/Aplicativo</a:t>
            </a:r>
            <a:endParaRPr lang="pt-BR" b="1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179512" y="3832468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Funcionalidades</a:t>
            </a:r>
            <a:endParaRPr lang="pt-BR" b="1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179512" y="5746973"/>
            <a:ext cx="7032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i="1" dirty="0" smtClean="0"/>
              <a:t>* Necessário interação com a TI para construir interface ao SISGD e </a:t>
            </a:r>
            <a:r>
              <a:rPr lang="pt-BR" sz="1400" i="1" dirty="0" err="1" smtClean="0"/>
              <a:t>Content</a:t>
            </a:r>
            <a:r>
              <a:rPr lang="pt-BR" sz="1400" i="1" dirty="0" smtClean="0"/>
              <a:t> Manager</a:t>
            </a:r>
          </a:p>
          <a:p>
            <a:r>
              <a:rPr lang="pt-BR" sz="1400" i="1" dirty="0" smtClean="0"/>
              <a:t>** Migração do legado para nova infraestrutura.</a:t>
            </a:r>
            <a:endParaRPr lang="pt-BR" sz="1400" i="1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6072562" y="2209275"/>
            <a:ext cx="2376264" cy="175432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Iniciar migração dos produtos contemplados no SICT2 para nova infraestrutura (dados e imagem)**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395536" y="2405538"/>
            <a:ext cx="2215364" cy="9233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Interface com o repositório de imagens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2973585" y="2237875"/>
            <a:ext cx="2346269" cy="147732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Carga de dados e busca documentos dos clientes a partir do SIGDA e SICTD</a:t>
            </a:r>
          </a:p>
          <a:p>
            <a:r>
              <a:rPr lang="pt-BR" b="1" i="1" dirty="0" smtClean="0">
                <a:solidFill>
                  <a:srgbClr val="FFC000"/>
                </a:solidFill>
              </a:rPr>
              <a:t>continuação</a:t>
            </a:r>
            <a:endParaRPr lang="pt-BR" b="1" i="1" dirty="0">
              <a:solidFill>
                <a:srgbClr val="FFC000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658005" y="4799607"/>
            <a:ext cx="6146243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Substituir </a:t>
            </a:r>
            <a:r>
              <a:rPr lang="pt-BR" b="1" i="1" dirty="0" err="1" smtClean="0">
                <a:solidFill>
                  <a:schemeClr val="bg1"/>
                </a:solidFill>
              </a:rPr>
              <a:t>FIlaUnica</a:t>
            </a:r>
            <a:r>
              <a:rPr lang="pt-BR" b="1" i="1" dirty="0" smtClean="0">
                <a:solidFill>
                  <a:schemeClr val="bg1"/>
                </a:solidFill>
              </a:rPr>
              <a:t> na visualização de documentação do cliente e tratamento das demandas</a:t>
            </a:r>
            <a:endParaRPr lang="pt-BR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42465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PROPOSTA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116632"/>
            <a:ext cx="1518555" cy="151855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395536" y="985679"/>
            <a:ext cx="7656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>
                <a:solidFill>
                  <a:srgbClr val="FFC000"/>
                </a:solidFill>
              </a:rPr>
              <a:t>ENTREGA 4 – CONCLUIR MIGRAÇÃO DO SIGDA e </a:t>
            </a:r>
            <a:r>
              <a:rPr lang="pt-BR" sz="2000" b="1" dirty="0" smtClean="0">
                <a:solidFill>
                  <a:srgbClr val="FFC000"/>
                </a:solidFill>
              </a:rPr>
              <a:t>SICT2</a:t>
            </a:r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r>
              <a:rPr lang="pt-BR" sz="1600" dirty="0" smtClean="0">
                <a:solidFill>
                  <a:schemeClr val="accent2">
                    <a:lumMod val="75000"/>
                  </a:schemeClr>
                </a:solidFill>
              </a:rPr>
              <a:t>			 </a:t>
            </a:r>
          </a:p>
          <a:p>
            <a:pPr algn="just"/>
            <a:r>
              <a:rPr lang="pt-BR" sz="2000" dirty="0" smtClean="0">
                <a:solidFill>
                  <a:schemeClr val="accent2">
                    <a:lumMod val="75000"/>
                  </a:schemeClr>
                </a:solidFill>
              </a:rPr>
              <a:t>	</a:t>
            </a:r>
          </a:p>
        </p:txBody>
      </p:sp>
      <p:sp>
        <p:nvSpPr>
          <p:cNvPr id="3" name="Retângulo 2"/>
          <p:cNvSpPr/>
          <p:nvPr/>
        </p:nvSpPr>
        <p:spPr>
          <a:xfrm>
            <a:off x="-585160" y="3926146"/>
            <a:ext cx="80779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pt-BR" sz="16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just"/>
            <a:endParaRPr lang="pt-BR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79512" y="1573385"/>
            <a:ext cx="2852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Infraestrutura/Aplicativo</a:t>
            </a:r>
            <a:endParaRPr lang="pt-BR" b="1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195148" y="403922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Funcionalidades</a:t>
            </a:r>
            <a:endParaRPr lang="pt-BR" b="1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179512" y="5746973"/>
            <a:ext cx="3873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i="1" dirty="0" smtClean="0"/>
              <a:t>* </a:t>
            </a:r>
            <a:r>
              <a:rPr lang="pt-BR" sz="1400" i="1" dirty="0"/>
              <a:t>Migração do legado para nova infraestrutura.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395536" y="2405538"/>
            <a:ext cx="2215364" cy="12003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Interface com o repositório de imagens</a:t>
            </a:r>
          </a:p>
          <a:p>
            <a:r>
              <a:rPr lang="pt-BR" b="1" i="1" dirty="0" smtClean="0">
                <a:solidFill>
                  <a:srgbClr val="FFC000"/>
                </a:solidFill>
              </a:rPr>
              <a:t>continuação</a:t>
            </a:r>
            <a:endParaRPr lang="pt-BR" b="1" i="1" dirty="0">
              <a:solidFill>
                <a:srgbClr val="FFC000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5969572" y="2042569"/>
            <a:ext cx="2376264" cy="9233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Eliminar redundância de documentos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5969572" y="3051676"/>
            <a:ext cx="2376264" cy="9233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Iniciar inteligência conformidade prévia 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3102104" y="2011681"/>
            <a:ext cx="2376264" cy="20313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Iniciar migração dos produtos contemplados no SICT2 para nova infraestrutura (dados e imagem)*</a:t>
            </a:r>
          </a:p>
          <a:p>
            <a:r>
              <a:rPr lang="pt-BR" b="1" i="1" dirty="0" smtClean="0">
                <a:solidFill>
                  <a:srgbClr val="FFC000"/>
                </a:solidFill>
              </a:rPr>
              <a:t>continuação</a:t>
            </a:r>
            <a:endParaRPr lang="pt-BR" b="1" i="1" dirty="0">
              <a:solidFill>
                <a:srgbClr val="FFC000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671858" y="4632727"/>
            <a:ext cx="6866323" cy="64633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i="1" dirty="0" smtClean="0">
                <a:solidFill>
                  <a:schemeClr val="bg1"/>
                </a:solidFill>
              </a:rPr>
              <a:t>Melhoria no fluxo da conformidade (validação de tipo de documento, dossiê completo, batimento cadastro x imagem).</a:t>
            </a:r>
            <a:endParaRPr lang="pt-BR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874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IMPACTOS COM A ENTREGA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738" y="1690829"/>
            <a:ext cx="1701789" cy="1266849"/>
          </a:xfrm>
          <a:prstGeom prst="rect">
            <a:avLst/>
          </a:prstGeom>
        </p:spPr>
      </p:pic>
      <p:sp>
        <p:nvSpPr>
          <p:cNvPr id="23" name="CaixaDeTexto 22"/>
          <p:cNvSpPr txBox="1"/>
          <p:nvPr/>
        </p:nvSpPr>
        <p:spPr>
          <a:xfrm>
            <a:off x="1071336" y="2950148"/>
            <a:ext cx="280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Sistemas integrados</a:t>
            </a:r>
            <a:endParaRPr lang="pt-B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827" y="2247628"/>
            <a:ext cx="1015443" cy="1040935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3686114" y="3266244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Reaproveitamento</a:t>
            </a:r>
          </a:p>
          <a:p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(dados e imagem)</a:t>
            </a:r>
            <a:endParaRPr lang="pt-B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24" y="1196752"/>
            <a:ext cx="2009524" cy="1447619"/>
          </a:xfrm>
          <a:prstGeom prst="rect">
            <a:avLst/>
          </a:prstGeom>
        </p:spPr>
      </p:pic>
      <p:sp>
        <p:nvSpPr>
          <p:cNvPr id="29" name="CaixaDeTexto 28"/>
          <p:cNvSpPr txBox="1"/>
          <p:nvPr/>
        </p:nvSpPr>
        <p:spPr>
          <a:xfrm>
            <a:off x="6504347" y="2637951"/>
            <a:ext cx="23762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Inteligência ao processo (</a:t>
            </a:r>
            <a:r>
              <a:rPr lang="pt-BR" sz="1400" b="1" i="1" dirty="0" err="1" smtClean="0">
                <a:solidFill>
                  <a:schemeClr val="accent2">
                    <a:lumMod val="75000"/>
                  </a:schemeClr>
                </a:solidFill>
              </a:rPr>
              <a:t>QrCode</a:t>
            </a:r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, Upload, OCR,</a:t>
            </a:r>
          </a:p>
          <a:p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aprovação/rejeição automática)</a:t>
            </a:r>
            <a:endParaRPr lang="pt-B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96" y="3946208"/>
            <a:ext cx="1457661" cy="1093246"/>
          </a:xfrm>
          <a:prstGeom prst="rect">
            <a:avLst/>
          </a:prstGeom>
        </p:spPr>
      </p:pic>
      <p:sp>
        <p:nvSpPr>
          <p:cNvPr id="30" name="CaixaDeTexto 29"/>
          <p:cNvSpPr txBox="1"/>
          <p:nvPr/>
        </p:nvSpPr>
        <p:spPr>
          <a:xfrm>
            <a:off x="1671334" y="5011426"/>
            <a:ext cx="243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Visão por cliente (PF e PJ)</a:t>
            </a:r>
            <a:endParaRPr lang="pt-B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362" y="3946208"/>
            <a:ext cx="1969012" cy="1328931"/>
          </a:xfrm>
          <a:prstGeom prst="rect">
            <a:avLst/>
          </a:prstGeom>
        </p:spPr>
      </p:pic>
      <p:sp>
        <p:nvSpPr>
          <p:cNvPr id="31" name="CaixaDeTexto 30"/>
          <p:cNvSpPr txBox="1"/>
          <p:nvPr/>
        </p:nvSpPr>
        <p:spPr>
          <a:xfrm>
            <a:off x="5828199" y="5242169"/>
            <a:ext cx="1914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i="1" dirty="0" smtClean="0">
                <a:solidFill>
                  <a:schemeClr val="accent2">
                    <a:lumMod val="75000"/>
                  </a:schemeClr>
                </a:solidFill>
              </a:rPr>
              <a:t>Melhoria Qualidade</a:t>
            </a:r>
            <a:endParaRPr lang="pt-BR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919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INFRAESTRUTURA ATUAL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21925"/>
            <a:ext cx="8787039" cy="495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506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INFRAESTRUTURA SOLICITADA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764704"/>
            <a:ext cx="8364413" cy="536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534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/>
          <p:cNvSpPr txBox="1"/>
          <p:nvPr/>
        </p:nvSpPr>
        <p:spPr>
          <a:xfrm>
            <a:off x="611560" y="476672"/>
            <a:ext cx="6192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i="1" dirty="0" smtClean="0">
                <a:solidFill>
                  <a:schemeClr val="accent2">
                    <a:lumMod val="75000"/>
                  </a:schemeClr>
                </a:solidFill>
              </a:rPr>
              <a:t>DÚVIDAS e DESAFIOS?</a:t>
            </a:r>
            <a:endParaRPr lang="pt-BR" sz="2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1554444" y="1187591"/>
            <a:ext cx="16644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MULTIMAGEM</a:t>
            </a:r>
            <a:endParaRPr lang="pt-BR" sz="15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31" y="1032058"/>
            <a:ext cx="683357" cy="68335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17" y="1801465"/>
            <a:ext cx="1005586" cy="1014485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1565592" y="1909795"/>
            <a:ext cx="4886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CONGELAMENTO DEMANDAS SICT2, SIIAC, ...</a:t>
            </a:r>
          </a:p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(Atendimento GEOPE e GN produtos)</a:t>
            </a:r>
            <a:endParaRPr lang="pt-BR" sz="15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31" y="5216263"/>
            <a:ext cx="1023234" cy="545725"/>
          </a:xfrm>
          <a:prstGeom prst="rect">
            <a:avLst/>
          </a:prstGeom>
        </p:spPr>
      </p:pic>
      <p:sp>
        <p:nvSpPr>
          <p:cNvPr id="17" name="CaixaDeTexto 16"/>
          <p:cNvSpPr txBox="1"/>
          <p:nvPr/>
        </p:nvSpPr>
        <p:spPr>
          <a:xfrm>
            <a:off x="1521085" y="5287858"/>
            <a:ext cx="21602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DOSSIÊ DIGITAL</a:t>
            </a:r>
            <a:endParaRPr lang="pt-BR" sz="15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09" y="2966891"/>
            <a:ext cx="909033" cy="715304"/>
          </a:xfrm>
          <a:prstGeom prst="rect">
            <a:avLst/>
          </a:prstGeom>
        </p:spPr>
      </p:pic>
      <p:sp>
        <p:nvSpPr>
          <p:cNvPr id="19" name="CaixaDeTexto 18"/>
          <p:cNvSpPr txBox="1"/>
          <p:nvPr/>
        </p:nvSpPr>
        <p:spPr>
          <a:xfrm>
            <a:off x="1538567" y="2958483"/>
            <a:ext cx="586937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NECESSIDADE DE INFRAESTRUTURA ATUALIZADA E SUPORTE DA TI (Multifuncional, Estação de Captura, Guarda informações, Server, Base de Dados)</a:t>
            </a:r>
            <a:endParaRPr lang="pt-BR" sz="15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10" y="3952640"/>
            <a:ext cx="1168197" cy="895082"/>
          </a:xfrm>
          <a:prstGeom prst="rect">
            <a:avLst/>
          </a:prstGeom>
        </p:spPr>
      </p:pic>
      <p:sp>
        <p:nvSpPr>
          <p:cNvPr id="12" name="CaixaDeTexto 11"/>
          <p:cNvSpPr txBox="1"/>
          <p:nvPr/>
        </p:nvSpPr>
        <p:spPr>
          <a:xfrm>
            <a:off x="1538567" y="3909898"/>
            <a:ext cx="48861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EQUIPE FOCADA</a:t>
            </a:r>
          </a:p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1 empregado GEBAN05 e 2 empregados remotos</a:t>
            </a:r>
          </a:p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1 empregado GEBAN02 e 2 empregados remotos </a:t>
            </a:r>
          </a:p>
          <a:p>
            <a:r>
              <a:rPr lang="pt-BR" sz="1500" b="1" i="1" dirty="0" smtClean="0">
                <a:solidFill>
                  <a:schemeClr val="accent2">
                    <a:lumMod val="75000"/>
                  </a:schemeClr>
                </a:solidFill>
              </a:rPr>
              <a:t>1 empregado CITDISP</a:t>
            </a:r>
            <a:endParaRPr lang="pt-BR" sz="15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753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Personalizada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3333CC"/>
      </a:folHlink>
    </a:clrScheme>
    <a:fontScheme name="Tema do Offic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11024</TotalTime>
  <Words>455</Words>
  <Application>Microsoft Office PowerPoint</Application>
  <PresentationFormat>Apresentação na tela (4:3)</PresentationFormat>
  <Paragraphs>101</Paragraphs>
  <Slides>12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Arial Unicode MS</vt:lpstr>
      <vt:lpstr>Microsoft YaHei</vt:lpstr>
      <vt:lpstr>Arial</vt:lpstr>
      <vt:lpstr>Calibri</vt:lpstr>
      <vt:lpstr>Times New Roman</vt:lpstr>
      <vt:lpstr>Wingdings</vt:lpstr>
      <vt:lpstr>Tema do Office</vt:lpstr>
      <vt:lpstr>FLUXO POR IMAGEM Proposta de novo workflow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GECOM 04/09</dc:title>
  <dc:creator>Samarony Justo Nicolau</dc:creator>
  <cp:lastModifiedBy>Raimundo Alves Portela Filho</cp:lastModifiedBy>
  <cp:revision>522</cp:revision>
  <cp:lastPrinted>1601-01-01T00:00:00Z</cp:lastPrinted>
  <dcterms:created xsi:type="dcterms:W3CDTF">1601-01-01T00:00:00Z</dcterms:created>
  <dcterms:modified xsi:type="dcterms:W3CDTF">2017-05-15T16:31:05Z</dcterms:modified>
</cp:coreProperties>
</file>